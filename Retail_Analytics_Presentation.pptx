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Revenue by Country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E6F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90-4F7B-808B-36242FBEA2A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290-4F7B-808B-36242FBEA2A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290-4F7B-808B-36242FBEA2A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290-4F7B-808B-36242FBEA2A4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90-4F7B-808B-36242FBEA2A4}"/>
              </c:ext>
            </c:extLst>
          </c:dPt>
          <c:dPt>
            <c:idx val="5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90-4F7B-808B-36242FBEA2A4}"/>
              </c:ext>
            </c:extLst>
          </c:dPt>
          <c:dPt>
            <c:idx val="6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290-4F7B-808B-36242FBEA2A4}"/>
              </c:ext>
            </c:extLst>
          </c:dPt>
          <c:dPt>
            <c:idx val="7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290-4F7B-808B-36242FBEA2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United Kingdom</c:v>
                </c:pt>
                <c:pt idx="1">
                  <c:v>Germany</c:v>
                </c:pt>
                <c:pt idx="2">
                  <c:v>France</c:v>
                </c:pt>
                <c:pt idx="3">
                  <c:v>EIRE</c:v>
                </c:pt>
                <c:pt idx="4">
                  <c:v>Netherlands</c:v>
                </c:pt>
                <c:pt idx="5">
                  <c:v>Spain</c:v>
                </c:pt>
                <c:pt idx="6">
                  <c:v>Belgium</c:v>
                </c:pt>
                <c:pt idx="7">
                  <c:v>Switzerland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580000</c:v>
                </c:pt>
                <c:pt idx="1">
                  <c:v>210000</c:v>
                </c:pt>
                <c:pt idx="2">
                  <c:v>195000</c:v>
                </c:pt>
                <c:pt idx="3">
                  <c:v>140000</c:v>
                </c:pt>
                <c:pt idx="4">
                  <c:v>98000</c:v>
                </c:pt>
                <c:pt idx="5">
                  <c:v>72000</c:v>
                </c:pt>
                <c:pt idx="6">
                  <c:v>55000</c:v>
                </c:pt>
                <c:pt idx="7">
                  <c:v>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290-4F7B-808B-36242FBEA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Top Products by Revenue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REGENCY CAKE STAND</c:v>
                </c:pt>
                <c:pt idx="1">
                  <c:v>WHITE HANGING HEART</c:v>
                </c:pt>
                <c:pt idx="2">
                  <c:v>JUMBO BAG RED RETROSPOT</c:v>
                </c:pt>
                <c:pt idx="3">
                  <c:v>PARTY BUNTING</c:v>
                </c:pt>
                <c:pt idx="4">
                  <c:v>ASSORTED COLOUR BIRD</c:v>
                </c:pt>
                <c:pt idx="5">
                  <c:v>PACK 72 RETROSPOT</c:v>
                </c:pt>
                <c:pt idx="6">
                  <c:v>ALARM CLOCK BAKELIKE</c:v>
                </c:pt>
                <c:pt idx="7">
                  <c:v>LUNCH BAG RED RETROSPOT</c:v>
                </c:pt>
                <c:pt idx="8">
                  <c:v>GIRLS ALPHABET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98000</c:v>
                </c:pt>
                <c:pt idx="1">
                  <c:v>87000</c:v>
                </c:pt>
                <c:pt idx="2">
                  <c:v>76000</c:v>
                </c:pt>
                <c:pt idx="3">
                  <c:v>65000</c:v>
                </c:pt>
                <c:pt idx="4">
                  <c:v>59000</c:v>
                </c:pt>
                <c:pt idx="5">
                  <c:v>54000</c:v>
                </c:pt>
                <c:pt idx="6">
                  <c:v>48000</c:v>
                </c:pt>
                <c:pt idx="7">
                  <c:v>43000</c:v>
                </c:pt>
                <c:pt idx="8">
                  <c:v>38000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0A-46AB-92C9-79361B0A8E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Monthly Revenue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1E6F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6FA6"/>
              </a:solidFill>
              <a:ln w="9525" cap="flat">
                <a:solidFill>
                  <a:srgbClr val="1E6FA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85000</c:v>
                </c:pt>
                <c:pt idx="1">
                  <c:v>72000</c:v>
                </c:pt>
                <c:pt idx="2">
                  <c:v>95000</c:v>
                </c:pt>
                <c:pt idx="3">
                  <c:v>88000</c:v>
                </c:pt>
                <c:pt idx="4">
                  <c:v>102000</c:v>
                </c:pt>
                <c:pt idx="5">
                  <c:v>115000</c:v>
                </c:pt>
                <c:pt idx="6">
                  <c:v>108000</c:v>
                </c:pt>
                <c:pt idx="7">
                  <c:v>124000</c:v>
                </c:pt>
                <c:pt idx="8">
                  <c:v>131000</c:v>
                </c:pt>
                <c:pt idx="9">
                  <c:v>189000</c:v>
                </c:pt>
                <c:pt idx="10">
                  <c:v>212000</c:v>
                </c:pt>
                <c:pt idx="11">
                  <c:v>178000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85D-4954-8663-7EA4FDEDC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Revenue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D4-42A7-B8A5-2C6ADC796B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D4-42A7-B8A5-2C6ADC796B6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DD4-42A7-B8A5-2C6ADC796B6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DD4-42A7-B8A5-2C6ADC796B6E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D4-42A7-B8A5-2C6ADC796B6E}"/>
              </c:ext>
            </c:extLst>
          </c:dPt>
          <c:dPt>
            <c:idx val="5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D4-42A7-B8A5-2C6ADC796B6E}"/>
              </c:ext>
            </c:extLst>
          </c:dPt>
          <c:dPt>
            <c:idx val="6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D4-42A7-B8A5-2C6ADC796B6E}"/>
              </c:ext>
            </c:extLst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195000</c:v>
                </c:pt>
                <c:pt idx="1">
                  <c:v>182000</c:v>
                </c:pt>
                <c:pt idx="2">
                  <c:v>210000</c:v>
                </c:pt>
                <c:pt idx="3">
                  <c:v>198000</c:v>
                </c:pt>
                <c:pt idx="4">
                  <c:v>245000</c:v>
                </c:pt>
                <c:pt idx="5">
                  <c:v>88000</c:v>
                </c:pt>
                <c:pt idx="6">
                  <c:v>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D4-42A7-B8A5-2C6ADC796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Campaign Response Rate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B1-468B-BA5A-120FF55D16BE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B1-468B-BA5A-120FF55D16B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B1-468B-BA5A-120FF55D16B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B1-468B-BA5A-120FF55D16B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Responded (9.4%)</c:v>
                </c:pt>
                <c:pt idx="1">
                  <c:v>Did Not Respond (90.6%)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647</c:v>
                </c:pt>
                <c:pt idx="1">
                  <c:v>6237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B1-468B-BA5A-120FF55D1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Transaction Value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E6F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62-4C88-A595-B643A3C5069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62-4C88-A595-B643A3C5069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862-4C88-A595-B643A3C5069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62-4C88-A595-B643A3C50697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62-4C88-A595-B643A3C50697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62-4C88-A595-B643A3C50697}"/>
              </c:ext>
            </c:extLst>
          </c:dPt>
          <c:cat>
            <c:strRef>
              <c:f>Sheet1!$A$2:$A$7</c:f>
              <c:strCache>
                <c:ptCount val="6"/>
                <c:pt idx="0">
                  <c:v>$0–$10</c:v>
                </c:pt>
                <c:pt idx="1">
                  <c:v>$10–$25</c:v>
                </c:pt>
                <c:pt idx="2">
                  <c:v>$25–$50</c:v>
                </c:pt>
                <c:pt idx="3">
                  <c:v>$50–$100</c:v>
                </c:pt>
                <c:pt idx="4">
                  <c:v>$100–$250</c:v>
                </c:pt>
                <c:pt idx="5">
                  <c:v>$250+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</c:v>
                </c:pt>
                <c:pt idx="1">
                  <c:v>32000</c:v>
                </c:pt>
                <c:pt idx="2">
                  <c:v>28000</c:v>
                </c:pt>
                <c:pt idx="3">
                  <c:v>22000</c:v>
                </c:pt>
                <c:pt idx="4">
                  <c:v>14000</c:v>
                </c:pt>
                <c:pt idx="5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862-4C88-A595-B643A3C50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58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tail-analytics-hknlxqvmrprsozbcdplpye.streamlit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Retail_Analytics_Dashboard.xlsx" TargetMode="External"/><Relationship Id="rId4" Type="http://schemas.openxmlformats.org/officeDocument/2006/relationships/hyperlink" Target="https://github.com/Jaividhyarthi/Retail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90CAF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Intelligence for Retail Decision Making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029200" cy="36576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InternshipStudio Final Project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 ·  SQL  ·  Excel  ·  Streamlit  ·  Plotly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Kaggle Retail Transaction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984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243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objectives and tech stack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671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122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cleaning &amp; SQL database setup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358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980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transactions, AOV, basket size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9476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044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8496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42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revenue and market insights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8872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984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243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5361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SKUs, Pareto analysis, price patterns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671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21122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day-of-week and hourly patterns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358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2980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and transaction value analysis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7947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94760"/>
            <a:ext cx="41148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9044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38496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4142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0" cy="274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Retail Transaction Data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~125,000 records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Data: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6,884 customers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TransactionID  ·  TransactionTime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ItemCode  ·  ItemDescription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NumberOfItemsPurchased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CostPerItem  ·  Country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 STACK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657600" cy="274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3.11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984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Plotly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 / SQLite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MySQL-compatible 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Streamlit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44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Excel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575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KPI charts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Replit / Streamlit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105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920240" cy="594360"/>
          </a:xfrm>
          <a:prstGeom prst="rect">
            <a:avLst/>
          </a:prstGeom>
          <a:solidFill>
            <a:srgbClr val="1E6FA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64592" cy="164592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from Kaggle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64592" cy="164592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files: Transactions + Response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64592" cy="164592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125K+ transaction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58568" y="2377440"/>
            <a:ext cx="18288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304288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A5F5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097280"/>
            <a:ext cx="192024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06040" y="187452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column names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65176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 &amp; invalid rows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42900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types: date, numeric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07408" y="2377440"/>
            <a:ext cx="18288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27" name="Text 25"/>
          <p:cNvSpPr/>
          <p:nvPr/>
        </p:nvSpPr>
        <p:spPr>
          <a:xfrm>
            <a:off x="4453128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A5F5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1097280"/>
            <a:ext cx="192024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18745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= qty × price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6517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year/month/DOW/hour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year_month period string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56248" y="2377440"/>
            <a:ext cx="18288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9" name="Text 37"/>
          <p:cNvSpPr/>
          <p:nvPr/>
        </p:nvSpPr>
        <p:spPr>
          <a:xfrm>
            <a:off x="6601968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A5F5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1097280"/>
            <a:ext cx="1920240" cy="356616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12280" y="1344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903720" y="1874520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(MySQL DDL)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03720" y="2651760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7" name="Text 45"/>
          <p:cNvSpPr/>
          <p:nvPr/>
        </p:nvSpPr>
        <p:spPr>
          <a:xfrm>
            <a:off x="713232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country, item, date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3429000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CSVs for Excel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DDL: CREATE TABLE transactions (transaction_id, transaction_time, item_code, item_description, qty, cost_per_item, country, total_sales GENERATED, ...)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42A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64008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markets combined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56032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markets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5603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 tracked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2560320" cy="640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$19.20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3375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560320" cy="1554480"/>
          </a:xfrm>
          <a:prstGeom prst="rect">
            <a:avLst/>
          </a:prstGeom>
          <a:solidFill>
            <a:srgbClr val="132A4A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017520"/>
            <a:ext cx="256032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1264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Size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transaction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926080" cy="36576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KEY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2560320" cy="274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accounts for ~60% of total revenue — concentration risk.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2441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&amp; France show consistent MoM growth — expansion opportunity.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3191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AOV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3419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has the highest average order value despite lower volume.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39410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41696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&amp; Belgium are low-volume with upside potential.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926080" cy="164592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PARETO RULE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2A5F5"/>
                </a:solidFill>
              </a:rPr>
              <a:t>7 products
</a:t>
            </a:r>
            <a:endParaRPr lang="en-US" sz="3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drive 80% of total revenue
</a:t>
            </a:r>
            <a:endParaRPr lang="en-US" sz="32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These are the critical SKUs to protect.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852160" y="2880360"/>
            <a:ext cx="292608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 PRICE INSIGHTS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3337560"/>
            <a:ext cx="2560320" cy="274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4014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4014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$295.00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4306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4306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$0.39 – $295.00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65760" y="320040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97280"/>
            <a:ext cx="2926080" cy="39319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TIME INSIGHTS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43600" y="1554480"/>
            <a:ext cx="2560320" cy="274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Surge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 shows 60–80% revenue uplift — driven by holiday season purchasing.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943600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Peak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43600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consistently the highest revenue day. Staff and promotions accordingly.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43600" y="3008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Drop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0" y="3236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Sat–Sun revenue is 55% lower — B2B-driven customer base.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43600" y="3666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Mid-Morning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4360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10:00–12:00 is the peak trading window for all markets.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43600" y="4325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Dip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43600" y="4553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sees a post-holiday slump — target with clearance campaigns.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48640" y="4480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OPPORTUNITY: 6,237 non-responding customers = highest-leverage re-engagement target. Personalised campaigns using RFM scoring could convert even 5% = ~312 new active customers.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47472" cy="1115568"/>
          </a:xfrm>
          <a:prstGeom prst="rect">
            <a:avLst/>
          </a:prstGeom>
          <a:solidFill>
            <a:srgbClr val="1E6FA6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49047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197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472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UK generates ~60% of revenue.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17099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Expand marketing in Germany &amp; France which show consistent growth.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47472" cy="1115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1490472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1197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Opportunity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93792" y="1472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7 SKUs drive 80% of revenue.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93792" y="17099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Protect these products with dedicated inventory buffers and supplier contracts.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0487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04872"/>
            <a:ext cx="347472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7523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734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Q4 revenue is 60-80% above baseline.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29718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Pre-position stock by end of August to avoid Q4 stockout losses.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40487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04872"/>
            <a:ext cx="347472" cy="11155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275234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9379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93792" y="2734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10:00–12:00 is peak trading window.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93792" y="29718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Align customer service staffing and promotional emails to peak hours.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6674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66744"/>
            <a:ext cx="347472" cy="111556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401421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672" y="3721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Re-engagement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995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90.6% of customers did not respond.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" y="4233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Apply RFM segmentation to identify high-value dormant customers for win-back.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6674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66744"/>
            <a:ext cx="347472" cy="11155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4014216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💲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93792" y="3721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Segmentation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93792" y="3995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Price spread is $0.39 to $295.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93792" y="4233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Create premium and budget product tiers with distinct marketing messaging.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749040"/>
          </a:xfrm>
          <a:prstGeom prst="rect">
            <a:avLst/>
          </a:prstGeom>
          <a:solidFill>
            <a:srgbClr val="0D1B3E"/>
          </a:solidFill>
          <a:ln w="19050">
            <a:solidFill>
              <a:srgbClr val="1E6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solidFill>
            <a:srgbClr val="1E6FA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33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" y="1755648"/>
            <a:ext cx="128016" cy="128016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 (2 files)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441448"/>
            <a:ext cx="128016" cy="128016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3127248"/>
            <a:ext cx="128016" cy="128016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90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MySQL-compatible DDL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813048"/>
            <a:ext cx="128016" cy="128016"/>
          </a:xfrm>
          <a:prstGeom prst="ellipse">
            <a:avLst/>
          </a:prstGeom>
          <a:solidFill>
            <a:srgbClr val="1E6FA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6FA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2032" y="1097280"/>
            <a:ext cx="1920240" cy="3749040"/>
          </a:xfrm>
          <a:prstGeom prst="rect">
            <a:avLst/>
          </a:prstGeom>
          <a:solidFill>
            <a:srgbClr val="0D1B3E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109728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587752" y="1133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06624" y="17556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907792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06624" y="24414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2907792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06624" y="31272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907792" y="3090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06624" y="381304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907792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26864" y="1097280"/>
            <a:ext cx="1920240" cy="3749040"/>
          </a:xfrm>
          <a:prstGeom prst="rect">
            <a:avLst/>
          </a:prstGeom>
          <a:solidFill>
            <a:srgbClr val="0D1B3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1097280"/>
            <a:ext cx="1920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672584" y="1133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91456" y="17556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992624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91456" y="24414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992624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91456" y="31272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992624" y="3090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metrics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91456" y="38130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992624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65392" y="2651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11696" y="1097280"/>
            <a:ext cx="1920240" cy="3749040"/>
          </a:xfrm>
          <a:prstGeom prst="rect">
            <a:avLst/>
          </a:prstGeom>
          <a:solidFill>
            <a:srgbClr val="0D1B3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11696" y="1097280"/>
            <a:ext cx="1920240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1133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76288" y="175564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4" name="Text 42"/>
          <p:cNvSpPr/>
          <p:nvPr/>
        </p:nvSpPr>
        <p:spPr>
          <a:xfrm>
            <a:off x="7077456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6288" y="244144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6" name="Text 44"/>
          <p:cNvSpPr/>
          <p:nvPr/>
        </p:nvSpPr>
        <p:spPr>
          <a:xfrm>
            <a:off x="7077456" y="2404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76288" y="312724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7077456" y="3090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76288" y="381304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0" name="Text 48"/>
          <p:cNvSpPr/>
          <p:nvPr/>
        </p:nvSpPr>
        <p:spPr>
          <a:xfrm>
            <a:off x="7077456" y="37764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PPT report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754880"/>
            <a:ext cx="8275320" cy="256032"/>
          </a:xfrm>
          <a:prstGeom prst="rect">
            <a:avLst/>
          </a:prstGeom>
          <a:solidFill>
            <a:srgbClr val="132A4A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773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DEPLOYED ON: Streamlit Cloud  ·  Live URL available for evaluation  ·  GitHub repository with full source code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4983480"/>
            <a:ext cx="8823960" cy="1645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5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EVALUATION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4572000" cy="36576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https://retail-analytics-hknlxqvmrprsozbcdplpye.streamlit.app</a:t>
            </a:r>
            <a:endParaRPr lang="en-US" sz="11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Repo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https://github.com/Jaividhyarthi/Retail-analytics</a:t>
            </a:r>
            <a:endParaRPr lang="en-US" sz="11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kaggle.com/datasets/regivm/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retailtransactiondata</a:t>
            </a:r>
            <a:endParaRPr lang="en-US" sz="11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InternshipStudio Final Project  ·  Sales Data Analysis and Reporting for a Retail Chain  ·  2026</a:t>
            </a:r>
            <a:endParaRPr lang="en-US" sz="9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D041FE6-AF16-7ABC-8F7C-2D5D2D22F51D}"/>
              </a:ext>
            </a:extLst>
          </p:cNvPr>
          <p:cNvSpPr/>
          <p:nvPr/>
        </p:nvSpPr>
        <p:spPr>
          <a:xfrm>
            <a:off x="640080" y="40827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Excel Dashboard</a:t>
            </a:r>
            <a:endParaRPr lang="en-US" sz="11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C9D4FF6-1F06-5707-BE7A-5F84A75AECB9}"/>
              </a:ext>
            </a:extLst>
          </p:cNvPr>
          <p:cNvSpPr/>
          <p:nvPr/>
        </p:nvSpPr>
        <p:spPr>
          <a:xfrm>
            <a:off x="2651760" y="40827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hlinkClick r:id="rId5" action="ppaction://hlinkfile"/>
              </a:rPr>
              <a:t>Retail_Analytics_Dashboard.xlsx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861</Words>
  <Application>Microsoft Office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Chain Sales Analytics</dc:title>
  <dc:subject>PptxGenJS Presentation</dc:subject>
  <dc:creator>InternshipStudio</dc:creator>
  <cp:lastModifiedBy>Jaividhyarthi Vivekanand</cp:lastModifiedBy>
  <cp:revision>3</cp:revision>
  <dcterms:created xsi:type="dcterms:W3CDTF">2026-04-19T04:35:39Z</dcterms:created>
  <dcterms:modified xsi:type="dcterms:W3CDTF">2026-04-19T04:53:35Z</dcterms:modified>
</cp:coreProperties>
</file>